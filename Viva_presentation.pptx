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Montserrat"/>
      <p:bold r:id="rId17"/>
      <p:boldItalic r:id="rId18"/>
    </p:embeddedFont>
    <p:embeddedFont>
      <p:font typeface="Oswald"/>
      <p:bold r:id="rId19"/>
    </p:embeddedFont>
    <p:embeddedFont>
      <p:font typeface="Sansita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ansita-regular.fntdata"/><Relationship Id="rId22" Type="http://schemas.openxmlformats.org/officeDocument/2006/relationships/font" Target="fonts/Sansita-italic.fntdata"/><Relationship Id="rId21" Type="http://schemas.openxmlformats.org/officeDocument/2006/relationships/font" Target="fonts/Sansita-bold.fntdata"/><Relationship Id="rId24" Type="http://schemas.openxmlformats.org/officeDocument/2006/relationships/font" Target="fonts/DMSans-regular.fntdata"/><Relationship Id="rId23" Type="http://schemas.openxmlformats.org/officeDocument/2006/relationships/font" Target="fonts/Sansit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-bold.fntdata"/><Relationship Id="rId16" Type="http://schemas.openxmlformats.org/officeDocument/2006/relationships/slide" Target="slides/slide10.xml"/><Relationship Id="rId19" Type="http://schemas.openxmlformats.org/officeDocument/2006/relationships/font" Target="fonts/Oswald-bold.fntdata"/><Relationship Id="rId18" Type="http://schemas.openxmlformats.org/officeDocument/2006/relationships/font" Target="fonts/Montserra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63fd54a6e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763fd54a6e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63fd54a6e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763fd54a6e_2_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63fd54a6e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763fd54a6e_2_1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63fd54a6e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763fd54a6e_2_1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63fd54a6e_2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763fd54a6e_2_1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63fd54a6e_2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763fd54a6e_2_1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763fd54a6e_2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763fd54a6e_2_1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763fd54a6e_2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763fd54a6e_2_2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763fd54a6e_2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763fd54a6e_2_2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763fd54a6e_2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763fd54a6e_2_2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2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Relationship Id="rId8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8.png"/><Relationship Id="rId5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 b="21874" l="0" r="0" t="21875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5"/>
          <p:cNvPicPr preferRelativeResize="0"/>
          <p:nvPr/>
        </p:nvPicPr>
        <p:blipFill rotWithShape="1">
          <a:blip r:embed="rId4">
            <a:alphaModFix/>
          </a:blip>
          <a:srcRect b="0" l="22242" r="30629" t="54526"/>
          <a:stretch/>
        </p:blipFill>
        <p:spPr>
          <a:xfrm rot="7659121">
            <a:off x="7705492" y="3539520"/>
            <a:ext cx="1797815" cy="177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5"/>
          <p:cNvPicPr preferRelativeResize="0"/>
          <p:nvPr/>
        </p:nvPicPr>
        <p:blipFill rotWithShape="1">
          <a:blip r:embed="rId4">
            <a:alphaModFix/>
          </a:blip>
          <a:srcRect b="14345" l="55344" r="0" t="54771"/>
          <a:stretch/>
        </p:blipFill>
        <p:spPr>
          <a:xfrm>
            <a:off x="0" y="-49323"/>
            <a:ext cx="2014523" cy="14296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25"/>
          <p:cNvGrpSpPr/>
          <p:nvPr/>
        </p:nvGrpSpPr>
        <p:grpSpPr>
          <a:xfrm>
            <a:off x="0" y="1319260"/>
            <a:ext cx="9144000" cy="2455657"/>
            <a:chOff x="0" y="-19050"/>
            <a:chExt cx="3705023" cy="948454"/>
          </a:xfrm>
        </p:grpSpPr>
        <p:sp>
          <p:nvSpPr>
            <p:cNvPr id="133" name="Google Shape;133;p25"/>
            <p:cNvSpPr/>
            <p:nvPr/>
          </p:nvSpPr>
          <p:spPr>
            <a:xfrm>
              <a:off x="0" y="0"/>
              <a:ext cx="3705023" cy="929404"/>
            </a:xfrm>
            <a:custGeom>
              <a:rect b="b" l="l" r="r" t="t"/>
              <a:pathLst>
                <a:path extrusionOk="0" h="929404" w="3705023">
                  <a:moveTo>
                    <a:pt x="0" y="0"/>
                  </a:moveTo>
                  <a:lnTo>
                    <a:pt x="3705023" y="0"/>
                  </a:lnTo>
                  <a:lnTo>
                    <a:pt x="3705023" y="929404"/>
                  </a:lnTo>
                  <a:lnTo>
                    <a:pt x="0" y="9294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34" name="Google Shape;134;p2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25"/>
          <p:cNvSpPr txBox="1"/>
          <p:nvPr/>
        </p:nvSpPr>
        <p:spPr>
          <a:xfrm>
            <a:off x="787568" y="1644627"/>
            <a:ext cx="7254587" cy="1196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Efficiency in Retail Pharmacies</a:t>
            </a:r>
            <a:endParaRPr b="1" i="0" sz="3600" u="none" cap="none" strike="noStrike">
              <a:solidFill>
                <a:srgbClr val="231F2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1359798" y="4070730"/>
            <a:ext cx="6424405" cy="685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PRESENTATION BY </a:t>
            </a:r>
            <a:endParaRPr sz="700"/>
          </a:p>
          <a:p>
            <a:pPr indent="0" lvl="0" marL="0" marR="0" rtl="0" algn="ctr">
              <a:lnSpc>
                <a:spcPct val="137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PARAS</a:t>
            </a:r>
            <a:endParaRPr sz="700"/>
          </a:p>
          <a:p>
            <a:pPr indent="0" lvl="0" marL="0" marR="0" rtl="0" algn="ctr">
              <a:lnSpc>
                <a:spcPct val="137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ROLL NO. 23f2003850</a:t>
            </a:r>
            <a:endParaRPr sz="700"/>
          </a:p>
        </p:txBody>
      </p:sp>
      <p:pic>
        <p:nvPicPr>
          <p:cNvPr id="137" name="Google Shape;13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65786" y="150485"/>
            <a:ext cx="727729" cy="72772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/>
          <p:nvPr/>
        </p:nvSpPr>
        <p:spPr>
          <a:xfrm>
            <a:off x="1922438" y="2823806"/>
            <a:ext cx="4984844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and Solutions</a:t>
            </a:r>
            <a:endParaRPr b="1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6"/>
          <p:cNvPicPr preferRelativeResize="0"/>
          <p:nvPr/>
        </p:nvPicPr>
        <p:blipFill rotWithShape="1">
          <a:blip r:embed="rId3">
            <a:alphaModFix/>
          </a:blip>
          <a:srcRect b="21874" l="0" r="0" t="21875"/>
          <a:stretch/>
        </p:blipFill>
        <p:spPr>
          <a:xfrm rot="10800000">
            <a:off x="0" y="1905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26"/>
          <p:cNvGrpSpPr/>
          <p:nvPr/>
        </p:nvGrpSpPr>
        <p:grpSpPr>
          <a:xfrm>
            <a:off x="6831497" y="132572"/>
            <a:ext cx="2148274" cy="4821288"/>
            <a:chOff x="0" y="-19050"/>
            <a:chExt cx="1131601" cy="2539609"/>
          </a:xfrm>
        </p:grpSpPr>
        <p:sp>
          <p:nvSpPr>
            <p:cNvPr id="145" name="Google Shape;145;p26"/>
            <p:cNvSpPr/>
            <p:nvPr/>
          </p:nvSpPr>
          <p:spPr>
            <a:xfrm>
              <a:off x="0" y="0"/>
              <a:ext cx="1131601" cy="2520559"/>
            </a:xfrm>
            <a:custGeom>
              <a:rect b="b" l="l" r="r" t="t"/>
              <a:pathLst>
                <a:path extrusionOk="0" h="2520559" w="1131601">
                  <a:moveTo>
                    <a:pt x="0" y="0"/>
                  </a:moveTo>
                  <a:lnTo>
                    <a:pt x="1131601" y="0"/>
                  </a:lnTo>
                  <a:lnTo>
                    <a:pt x="1131601" y="2520559"/>
                  </a:lnTo>
                  <a:lnTo>
                    <a:pt x="0" y="252055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</p:sp>
        <p:sp>
          <p:nvSpPr>
            <p:cNvPr id="146" name="Google Shape;146;p26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26"/>
          <p:cNvGrpSpPr/>
          <p:nvPr/>
        </p:nvGrpSpPr>
        <p:grpSpPr>
          <a:xfrm>
            <a:off x="174452" y="2992487"/>
            <a:ext cx="4889687" cy="1765751"/>
            <a:chOff x="0" y="-19050"/>
            <a:chExt cx="2303549" cy="831850"/>
          </a:xfrm>
        </p:grpSpPr>
        <p:sp>
          <p:nvSpPr>
            <p:cNvPr id="148" name="Google Shape;148;p26"/>
            <p:cNvSpPr/>
            <p:nvPr/>
          </p:nvSpPr>
          <p:spPr>
            <a:xfrm>
              <a:off x="0" y="0"/>
              <a:ext cx="2303549" cy="213633"/>
            </a:xfrm>
            <a:custGeom>
              <a:rect b="b" l="l" r="r" t="t"/>
              <a:pathLst>
                <a:path extrusionOk="0" h="213633" w="2303549">
                  <a:moveTo>
                    <a:pt x="0" y="0"/>
                  </a:moveTo>
                  <a:lnTo>
                    <a:pt x="2303549" y="0"/>
                  </a:lnTo>
                  <a:lnTo>
                    <a:pt x="2303549" y="213633"/>
                  </a:lnTo>
                  <a:lnTo>
                    <a:pt x="0" y="2136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9" name="Google Shape;149;p26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26"/>
          <p:cNvSpPr txBox="1"/>
          <p:nvPr/>
        </p:nvSpPr>
        <p:spPr>
          <a:xfrm>
            <a:off x="271040" y="50453"/>
            <a:ext cx="4611845" cy="595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500" u="none" cap="none" strike="noStrike">
                <a:solidFill>
                  <a:srgbClr val="231F20"/>
                </a:solidFill>
                <a:latin typeface="Oswald"/>
                <a:ea typeface="Oswald"/>
                <a:cs typeface="Oswald"/>
                <a:sym typeface="Oswald"/>
              </a:rPr>
              <a:t>ABOUT THE PROJECT</a:t>
            </a:r>
            <a:endParaRPr sz="700"/>
          </a:p>
        </p:txBody>
      </p:sp>
      <p:grpSp>
        <p:nvGrpSpPr>
          <p:cNvPr id="151" name="Google Shape;151;p26"/>
          <p:cNvGrpSpPr/>
          <p:nvPr/>
        </p:nvGrpSpPr>
        <p:grpSpPr>
          <a:xfrm>
            <a:off x="174452" y="735677"/>
            <a:ext cx="4876482" cy="1266652"/>
            <a:chOff x="0" y="-66294"/>
            <a:chExt cx="13003953" cy="3377739"/>
          </a:xfrm>
        </p:grpSpPr>
        <p:pic>
          <p:nvPicPr>
            <p:cNvPr id="152" name="Google Shape;152;p26"/>
            <p:cNvPicPr preferRelativeResize="0"/>
            <p:nvPr/>
          </p:nvPicPr>
          <p:blipFill rotWithShape="1">
            <a:blip r:embed="rId4">
              <a:alphaModFix/>
            </a:blip>
            <a:srcRect b="0" l="0" r="0" t="46379"/>
            <a:stretch/>
          </p:blipFill>
          <p:spPr>
            <a:xfrm>
              <a:off x="0" y="1934315"/>
              <a:ext cx="13003953" cy="137713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3" name="Google Shape;153;p26"/>
            <p:cNvGrpSpPr/>
            <p:nvPr/>
          </p:nvGrpSpPr>
          <p:grpSpPr>
            <a:xfrm>
              <a:off x="0" y="-66294"/>
              <a:ext cx="12813391" cy="2894826"/>
              <a:chOff x="0" y="-19050"/>
              <a:chExt cx="3682024" cy="831850"/>
            </a:xfrm>
          </p:grpSpPr>
          <p:sp>
            <p:nvSpPr>
              <p:cNvPr id="154" name="Google Shape;154;p26"/>
              <p:cNvSpPr/>
              <p:nvPr/>
            </p:nvSpPr>
            <p:spPr>
              <a:xfrm>
                <a:off x="0" y="0"/>
                <a:ext cx="3682024" cy="746746"/>
              </a:xfrm>
              <a:custGeom>
                <a:rect b="b" l="l" r="r" t="t"/>
                <a:pathLst>
                  <a:path extrusionOk="0" h="746746" w="3682024">
                    <a:moveTo>
                      <a:pt x="0" y="0"/>
                    </a:moveTo>
                    <a:lnTo>
                      <a:pt x="3682024" y="0"/>
                    </a:lnTo>
                    <a:lnTo>
                      <a:pt x="3682024" y="746746"/>
                    </a:lnTo>
                    <a:lnTo>
                      <a:pt x="0" y="746746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155" name="Google Shape;155;p26"/>
              <p:cNvSpPr txBox="1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5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56" name="Google Shape;156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2725" y="369354"/>
              <a:ext cx="1542198" cy="15649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26"/>
            <p:cNvSpPr txBox="1"/>
            <p:nvPr/>
          </p:nvSpPr>
          <p:spPr>
            <a:xfrm>
              <a:off x="2355611" y="320461"/>
              <a:ext cx="9509574" cy="2095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8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cap="none" strike="noStrike">
                  <a:solidFill>
                    <a:srgbClr val="231F20"/>
                  </a:solidFill>
                  <a:latin typeface="DM Sans"/>
                  <a:ea typeface="DM Sans"/>
                  <a:cs typeface="DM Sans"/>
                  <a:sym typeface="DM Sans"/>
                </a:rPr>
                <a:t>A retail pharmacy namely ‘SHRI BALAJI MEDICAL STORE' was chosen for the data analysis purpose. 17-week data was collected, processed and analyzed. </a:t>
              </a:r>
              <a:endParaRPr sz="700"/>
            </a:p>
          </p:txBody>
        </p:sp>
      </p:grpSp>
      <p:grpSp>
        <p:nvGrpSpPr>
          <p:cNvPr id="158" name="Google Shape;158;p26"/>
          <p:cNvGrpSpPr/>
          <p:nvPr/>
        </p:nvGrpSpPr>
        <p:grpSpPr>
          <a:xfrm>
            <a:off x="138722" y="1795440"/>
            <a:ext cx="4876482" cy="1254634"/>
            <a:chOff x="0" y="-66294"/>
            <a:chExt cx="13003953" cy="3345690"/>
          </a:xfrm>
        </p:grpSpPr>
        <p:pic>
          <p:nvPicPr>
            <p:cNvPr id="159" name="Google Shape;159;p26"/>
            <p:cNvPicPr preferRelativeResize="0"/>
            <p:nvPr/>
          </p:nvPicPr>
          <p:blipFill rotWithShape="1">
            <a:blip r:embed="rId4">
              <a:alphaModFix/>
            </a:blip>
            <a:srcRect b="0" l="0" r="0" t="46379"/>
            <a:stretch/>
          </p:blipFill>
          <p:spPr>
            <a:xfrm>
              <a:off x="0" y="1902266"/>
              <a:ext cx="13003953" cy="137713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0" name="Google Shape;160;p26"/>
            <p:cNvGrpSpPr/>
            <p:nvPr/>
          </p:nvGrpSpPr>
          <p:grpSpPr>
            <a:xfrm>
              <a:off x="95281" y="-66294"/>
              <a:ext cx="12813391" cy="2894826"/>
              <a:chOff x="0" y="-19050"/>
              <a:chExt cx="3682024" cy="831850"/>
            </a:xfrm>
          </p:grpSpPr>
          <p:sp>
            <p:nvSpPr>
              <p:cNvPr id="161" name="Google Shape;161;p26"/>
              <p:cNvSpPr/>
              <p:nvPr/>
            </p:nvSpPr>
            <p:spPr>
              <a:xfrm>
                <a:off x="0" y="0"/>
                <a:ext cx="3682024" cy="746746"/>
              </a:xfrm>
              <a:custGeom>
                <a:rect b="b" l="l" r="r" t="t"/>
                <a:pathLst>
                  <a:path extrusionOk="0" h="746746" w="3682024">
                    <a:moveTo>
                      <a:pt x="0" y="0"/>
                    </a:moveTo>
                    <a:lnTo>
                      <a:pt x="3682024" y="0"/>
                    </a:lnTo>
                    <a:lnTo>
                      <a:pt x="3682024" y="746746"/>
                    </a:lnTo>
                    <a:lnTo>
                      <a:pt x="0" y="746746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</p:sp>
          <p:sp>
            <p:nvSpPr>
              <p:cNvPr id="162" name="Google Shape;162;p26"/>
              <p:cNvSpPr txBox="1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5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63" name="Google Shape;163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01425" y="513503"/>
              <a:ext cx="1545940" cy="15716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26"/>
            <p:cNvSpPr txBox="1"/>
            <p:nvPr/>
          </p:nvSpPr>
          <p:spPr>
            <a:xfrm>
              <a:off x="2450891" y="320461"/>
              <a:ext cx="9509574" cy="2095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8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cap="none" strike="noStrike">
                  <a:solidFill>
                    <a:srgbClr val="231F20"/>
                  </a:solidFill>
                  <a:latin typeface="DM Sans"/>
                  <a:ea typeface="DM Sans"/>
                  <a:cs typeface="DM Sans"/>
                  <a:sym typeface="DM Sans"/>
                </a:rPr>
                <a:t>Objective of the project was to identify the business problems and find a way out to solve those problems to help the pharmacy owner run the business in a better way.</a:t>
              </a:r>
              <a:endParaRPr sz="700"/>
            </a:p>
          </p:txBody>
        </p:sp>
      </p:grpSp>
      <p:sp>
        <p:nvSpPr>
          <p:cNvPr id="165" name="Google Shape;165;p26"/>
          <p:cNvSpPr txBox="1"/>
          <p:nvPr/>
        </p:nvSpPr>
        <p:spPr>
          <a:xfrm>
            <a:off x="241863" y="3058017"/>
            <a:ext cx="4708433" cy="365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231F20"/>
                </a:solidFill>
                <a:latin typeface="Oswald"/>
                <a:ea typeface="Oswald"/>
                <a:cs typeface="Oswald"/>
                <a:sym typeface="Oswald"/>
              </a:rPr>
              <a:t>PROBLEM STATEMENTS</a:t>
            </a:r>
            <a:endParaRPr sz="700"/>
          </a:p>
        </p:txBody>
      </p:sp>
      <p:grpSp>
        <p:nvGrpSpPr>
          <p:cNvPr id="166" name="Google Shape;166;p26"/>
          <p:cNvGrpSpPr/>
          <p:nvPr/>
        </p:nvGrpSpPr>
        <p:grpSpPr>
          <a:xfrm>
            <a:off x="138722" y="3492203"/>
            <a:ext cx="1543051" cy="1651542"/>
            <a:chOff x="0" y="-57150"/>
            <a:chExt cx="812800" cy="869950"/>
          </a:xfrm>
        </p:grpSpPr>
        <p:sp>
          <p:nvSpPr>
            <p:cNvPr id="167" name="Google Shape;167;p26"/>
            <p:cNvSpPr/>
            <p:nvPr/>
          </p:nvSpPr>
          <p:spPr>
            <a:xfrm>
              <a:off x="0" y="0"/>
              <a:ext cx="655724" cy="170593"/>
            </a:xfrm>
            <a:custGeom>
              <a:rect b="b" l="l" r="r" t="t"/>
              <a:pathLst>
                <a:path extrusionOk="0" h="170593" w="655724">
                  <a:moveTo>
                    <a:pt x="0" y="0"/>
                  </a:moveTo>
                  <a:lnTo>
                    <a:pt x="655724" y="0"/>
                  </a:lnTo>
                  <a:lnTo>
                    <a:pt x="655724" y="170593"/>
                  </a:lnTo>
                  <a:lnTo>
                    <a:pt x="0" y="170593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68" name="Google Shape;168;p26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38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5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  <a:endParaRPr sz="700"/>
            </a:p>
          </p:txBody>
        </p:sp>
      </p:grpSp>
      <p:sp>
        <p:nvSpPr>
          <p:cNvPr id="169" name="Google Shape;169;p26"/>
          <p:cNvSpPr txBox="1"/>
          <p:nvPr/>
        </p:nvSpPr>
        <p:spPr>
          <a:xfrm>
            <a:off x="166997" y="4020224"/>
            <a:ext cx="1216577" cy="551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Fluctuating daily sales and frequent stock-outs.</a:t>
            </a:r>
            <a:endParaRPr sz="700"/>
          </a:p>
        </p:txBody>
      </p:sp>
      <p:grpSp>
        <p:nvGrpSpPr>
          <p:cNvPr id="170" name="Google Shape;170;p26"/>
          <p:cNvGrpSpPr/>
          <p:nvPr/>
        </p:nvGrpSpPr>
        <p:grpSpPr>
          <a:xfrm>
            <a:off x="1811076" y="3492203"/>
            <a:ext cx="1570008" cy="1651542"/>
            <a:chOff x="0" y="-57150"/>
            <a:chExt cx="827000" cy="869950"/>
          </a:xfrm>
        </p:grpSpPr>
        <p:sp>
          <p:nvSpPr>
            <p:cNvPr id="171" name="Google Shape;171;p26"/>
            <p:cNvSpPr/>
            <p:nvPr/>
          </p:nvSpPr>
          <p:spPr>
            <a:xfrm>
              <a:off x="0" y="0"/>
              <a:ext cx="827000" cy="170593"/>
            </a:xfrm>
            <a:custGeom>
              <a:rect b="b" l="l" r="r" t="t"/>
              <a:pathLst>
                <a:path extrusionOk="0" h="170593" w="827000">
                  <a:moveTo>
                    <a:pt x="0" y="0"/>
                  </a:moveTo>
                  <a:lnTo>
                    <a:pt x="827000" y="0"/>
                  </a:lnTo>
                  <a:lnTo>
                    <a:pt x="827000" y="170593"/>
                  </a:lnTo>
                  <a:lnTo>
                    <a:pt x="0" y="170593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72" name="Google Shape;172;p26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38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5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2</a:t>
              </a:r>
              <a:endParaRPr sz="700"/>
            </a:p>
          </p:txBody>
        </p:sp>
      </p:grpSp>
      <p:sp>
        <p:nvSpPr>
          <p:cNvPr id="173" name="Google Shape;173;p26"/>
          <p:cNvSpPr txBox="1"/>
          <p:nvPr/>
        </p:nvSpPr>
        <p:spPr>
          <a:xfrm>
            <a:off x="1766556" y="4005521"/>
            <a:ext cx="1659049" cy="554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Mismatch between inventory and local demand</a:t>
            </a:r>
            <a:r>
              <a:rPr b="0" i="0" lang="en" sz="1200" u="none" cap="none" strike="noStrike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4" name="Google Shape;174;p26"/>
          <p:cNvGrpSpPr/>
          <p:nvPr/>
        </p:nvGrpSpPr>
        <p:grpSpPr>
          <a:xfrm>
            <a:off x="3808586" y="3492203"/>
            <a:ext cx="1543050" cy="1651542"/>
            <a:chOff x="0" y="-57150"/>
            <a:chExt cx="812800" cy="869950"/>
          </a:xfrm>
        </p:grpSpPr>
        <p:sp>
          <p:nvSpPr>
            <p:cNvPr id="175" name="Google Shape;175;p26"/>
            <p:cNvSpPr/>
            <p:nvPr/>
          </p:nvSpPr>
          <p:spPr>
            <a:xfrm>
              <a:off x="0" y="0"/>
              <a:ext cx="676255" cy="170593"/>
            </a:xfrm>
            <a:custGeom>
              <a:rect b="b" l="l" r="r" t="t"/>
              <a:pathLst>
                <a:path extrusionOk="0" h="170593" w="676255">
                  <a:moveTo>
                    <a:pt x="0" y="0"/>
                  </a:moveTo>
                  <a:lnTo>
                    <a:pt x="676255" y="0"/>
                  </a:lnTo>
                  <a:lnTo>
                    <a:pt x="676255" y="170593"/>
                  </a:lnTo>
                  <a:lnTo>
                    <a:pt x="0" y="170593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76" name="Google Shape;176;p26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38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5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3</a:t>
              </a:r>
              <a:endParaRPr sz="700"/>
            </a:p>
          </p:txBody>
        </p:sp>
      </p:grpSp>
      <p:sp>
        <p:nvSpPr>
          <p:cNvPr id="177" name="Google Shape;177;p26"/>
          <p:cNvSpPr txBox="1"/>
          <p:nvPr/>
        </p:nvSpPr>
        <p:spPr>
          <a:xfrm>
            <a:off x="3808586" y="4020224"/>
            <a:ext cx="1255553" cy="1112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Objective: Improve inventory management, sales forecasting, and customer satisfaction</a:t>
            </a:r>
            <a:r>
              <a:rPr b="0" i="0" lang="en" sz="1200" u="none" cap="none" strike="noStrike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 flipH="1">
            <a:off x="189647" y="3588110"/>
            <a:ext cx="1086359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1</a:t>
            </a:r>
            <a:endParaRPr sz="700"/>
          </a:p>
        </p:txBody>
      </p:sp>
      <p:sp>
        <p:nvSpPr>
          <p:cNvPr id="179" name="Google Shape;179;p26"/>
          <p:cNvSpPr txBox="1"/>
          <p:nvPr/>
        </p:nvSpPr>
        <p:spPr>
          <a:xfrm flipH="1">
            <a:off x="2022657" y="3583355"/>
            <a:ext cx="1086359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2</a:t>
            </a:r>
            <a:endParaRPr sz="700"/>
          </a:p>
        </p:txBody>
      </p:sp>
      <p:sp>
        <p:nvSpPr>
          <p:cNvPr id="180" name="Google Shape;180;p26"/>
          <p:cNvSpPr txBox="1"/>
          <p:nvPr/>
        </p:nvSpPr>
        <p:spPr>
          <a:xfrm flipH="1">
            <a:off x="3924145" y="3591729"/>
            <a:ext cx="1086359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3</a:t>
            </a:r>
            <a:endParaRPr sz="700"/>
          </a:p>
        </p:txBody>
      </p:sp>
      <p:pic>
        <p:nvPicPr>
          <p:cNvPr id="181" name="Google Shape;181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7352" y="50452"/>
            <a:ext cx="3736819" cy="506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7"/>
          <p:cNvPicPr preferRelativeResize="0"/>
          <p:nvPr/>
        </p:nvPicPr>
        <p:blipFill rotWithShape="1">
          <a:blip r:embed="rId3">
            <a:alphaModFix/>
          </a:blip>
          <a:srcRect b="21874" l="0" r="0" t="21875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" name="Google Shape;187;p27"/>
          <p:cNvGrpSpPr/>
          <p:nvPr/>
        </p:nvGrpSpPr>
        <p:grpSpPr>
          <a:xfrm>
            <a:off x="17947" y="-103255"/>
            <a:ext cx="9143998" cy="1579215"/>
            <a:chOff x="0" y="-19050"/>
            <a:chExt cx="4816592" cy="831850"/>
          </a:xfrm>
        </p:grpSpPr>
        <p:sp>
          <p:nvSpPr>
            <p:cNvPr id="188" name="Google Shape;188;p27"/>
            <p:cNvSpPr/>
            <p:nvPr/>
          </p:nvSpPr>
          <p:spPr>
            <a:xfrm>
              <a:off x="0" y="0"/>
              <a:ext cx="4816592" cy="812800"/>
            </a:xfrm>
            <a:custGeom>
              <a:rect b="b" l="l" r="r" t="t"/>
              <a:pathLst>
                <a:path extrusionOk="0"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89" name="Google Shape;189;p27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0" name="Google Shape;19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3458" y="-2431787"/>
            <a:ext cx="3808279" cy="390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407736" y="-1788387"/>
            <a:ext cx="3354966" cy="34425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27"/>
          <p:cNvGrpSpPr/>
          <p:nvPr/>
        </p:nvGrpSpPr>
        <p:grpSpPr>
          <a:xfrm>
            <a:off x="2433719" y="1520856"/>
            <a:ext cx="5741206" cy="1765747"/>
            <a:chOff x="0" y="-19050"/>
            <a:chExt cx="2704703" cy="831850"/>
          </a:xfrm>
        </p:grpSpPr>
        <p:sp>
          <p:nvSpPr>
            <p:cNvPr id="193" name="Google Shape;193;p27"/>
            <p:cNvSpPr/>
            <p:nvPr/>
          </p:nvSpPr>
          <p:spPr>
            <a:xfrm>
              <a:off x="0" y="0"/>
              <a:ext cx="2704703" cy="400651"/>
            </a:xfrm>
            <a:custGeom>
              <a:rect b="b" l="l" r="r" t="t"/>
              <a:pathLst>
                <a:path extrusionOk="0" h="400651" w="2704703">
                  <a:moveTo>
                    <a:pt x="0" y="0"/>
                  </a:moveTo>
                  <a:lnTo>
                    <a:pt x="2704703" y="0"/>
                  </a:lnTo>
                  <a:lnTo>
                    <a:pt x="2704703" y="400651"/>
                  </a:lnTo>
                  <a:lnTo>
                    <a:pt x="0" y="4006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94" name="Google Shape;194;p27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27"/>
          <p:cNvGrpSpPr/>
          <p:nvPr/>
        </p:nvGrpSpPr>
        <p:grpSpPr>
          <a:xfrm>
            <a:off x="631139" y="2640436"/>
            <a:ext cx="5665022" cy="1765748"/>
            <a:chOff x="0" y="-19050"/>
            <a:chExt cx="2668812" cy="831850"/>
          </a:xfrm>
        </p:grpSpPr>
        <p:sp>
          <p:nvSpPr>
            <p:cNvPr id="196" name="Google Shape;196;p27"/>
            <p:cNvSpPr/>
            <p:nvPr/>
          </p:nvSpPr>
          <p:spPr>
            <a:xfrm>
              <a:off x="0" y="0"/>
              <a:ext cx="2668812" cy="500149"/>
            </a:xfrm>
            <a:custGeom>
              <a:rect b="b" l="l" r="r" t="t"/>
              <a:pathLst>
                <a:path extrusionOk="0" h="500149" w="2668812">
                  <a:moveTo>
                    <a:pt x="0" y="0"/>
                  </a:moveTo>
                  <a:lnTo>
                    <a:pt x="2668812" y="0"/>
                  </a:lnTo>
                  <a:lnTo>
                    <a:pt x="2668812" y="500149"/>
                  </a:lnTo>
                  <a:lnTo>
                    <a:pt x="0" y="5001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97" name="Google Shape;197;p27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8" name="Google Shape;198;p27"/>
          <p:cNvPicPr preferRelativeResize="0"/>
          <p:nvPr/>
        </p:nvPicPr>
        <p:blipFill rotWithShape="1">
          <a:blip r:embed="rId5">
            <a:alphaModFix/>
          </a:blip>
          <a:srcRect b="7770" l="9768" r="14162" t="0"/>
          <a:stretch/>
        </p:blipFill>
        <p:spPr>
          <a:xfrm>
            <a:off x="6480624" y="2680873"/>
            <a:ext cx="1824227" cy="106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7"/>
          <p:cNvPicPr preferRelativeResize="0"/>
          <p:nvPr/>
        </p:nvPicPr>
        <p:blipFill rotWithShape="1">
          <a:blip r:embed="rId6">
            <a:alphaModFix/>
          </a:blip>
          <a:srcRect b="14685" l="0" r="0" t="24046"/>
          <a:stretch/>
        </p:blipFill>
        <p:spPr>
          <a:xfrm>
            <a:off x="504738" y="1543682"/>
            <a:ext cx="1851712" cy="8504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27"/>
          <p:cNvGrpSpPr/>
          <p:nvPr/>
        </p:nvGrpSpPr>
        <p:grpSpPr>
          <a:xfrm>
            <a:off x="2563644" y="3884722"/>
            <a:ext cx="5741206" cy="1485476"/>
            <a:chOff x="0" y="-19050"/>
            <a:chExt cx="2704703" cy="831850"/>
          </a:xfrm>
        </p:grpSpPr>
        <p:sp>
          <p:nvSpPr>
            <p:cNvPr id="201" name="Google Shape;201;p27"/>
            <p:cNvSpPr/>
            <p:nvPr/>
          </p:nvSpPr>
          <p:spPr>
            <a:xfrm>
              <a:off x="0" y="0"/>
              <a:ext cx="2704703" cy="525835"/>
            </a:xfrm>
            <a:custGeom>
              <a:rect b="b" l="l" r="r" t="t"/>
              <a:pathLst>
                <a:path extrusionOk="0" h="525835" w="2704703">
                  <a:moveTo>
                    <a:pt x="0" y="0"/>
                  </a:moveTo>
                  <a:lnTo>
                    <a:pt x="2704703" y="0"/>
                  </a:lnTo>
                  <a:lnTo>
                    <a:pt x="2704703" y="525835"/>
                  </a:lnTo>
                  <a:lnTo>
                    <a:pt x="0" y="5258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02" name="Google Shape;202;p27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3" name="Google Shape;203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1139" y="3918740"/>
            <a:ext cx="1857397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7"/>
          <p:cNvSpPr txBox="1"/>
          <p:nvPr/>
        </p:nvSpPr>
        <p:spPr>
          <a:xfrm>
            <a:off x="1863438" y="122062"/>
            <a:ext cx="5453020" cy="1107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PROBLEM SOLVING APPROACH</a:t>
            </a:r>
            <a:endParaRPr sz="700"/>
          </a:p>
        </p:txBody>
      </p:sp>
      <p:sp>
        <p:nvSpPr>
          <p:cNvPr id="205" name="Google Shape;205;p27"/>
          <p:cNvSpPr txBox="1"/>
          <p:nvPr/>
        </p:nvSpPr>
        <p:spPr>
          <a:xfrm>
            <a:off x="2607271" y="1589331"/>
            <a:ext cx="4702260" cy="835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88900" lvl="1" marL="177800" marR="0" rtl="0" algn="l">
              <a:lnSpc>
                <a:spcPct val="137992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Reaching a large customer base : </a:t>
            </a:r>
            <a:endParaRPr sz="700"/>
          </a:p>
          <a:p>
            <a:pPr indent="-120650" lvl="2" marL="355600" marR="0" rtl="0" algn="l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⚬"/>
            </a:pPr>
            <a:r>
              <a:rPr b="0" i="0" lang="en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Leveraged health camps, local awareness drives, and personalized community engagement to expand outreach and build trust among rural customers.</a:t>
            </a:r>
            <a:endParaRPr b="0" i="0" sz="900" u="none" cap="none" strike="noStrike">
              <a:solidFill>
                <a:srgbClr val="231F2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2" marL="355600" marR="0" rtl="0" algn="l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⚬"/>
            </a:pPr>
            <a:r>
              <a:rPr b="0" i="0" lang="en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Utilized targeted inventory stocking and affordable pricing aligned with seasonal and local health needs to attract and retain a broader customer base.</a:t>
            </a:r>
            <a:endParaRPr sz="700"/>
          </a:p>
          <a:p>
            <a:pPr indent="-76200" lvl="2" marL="355600" marR="0" rtl="0" algn="l">
              <a:lnSpc>
                <a:spcPct val="1379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6" name="Google Shape;206;p27"/>
          <p:cNvSpPr txBox="1"/>
          <p:nvPr/>
        </p:nvSpPr>
        <p:spPr>
          <a:xfrm>
            <a:off x="738129" y="2766206"/>
            <a:ext cx="5558032" cy="840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88900" lvl="1" marL="177800" marR="0" rtl="0" algn="l">
              <a:lnSpc>
                <a:spcPct val="137992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Analyzing time-based Stocks :</a:t>
            </a:r>
            <a:endParaRPr sz="700"/>
          </a:p>
          <a:p>
            <a:pPr indent="0" lvl="1" marL="88900" marR="0" rtl="0" algn="l">
              <a:lnSpc>
                <a:spcPct val="137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800" u="none" cap="none" strike="noStrike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46050" lvl="1" marL="228600" marR="0" rtl="0" algn="l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o"/>
            </a:pPr>
            <a:r>
              <a:rPr b="0" i="0" lang="en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Tracked inventory turnover rates by monitoring purchase and sale dates, identifying slow-moving and fast-moving medicines over specific periods.</a:t>
            </a:r>
            <a:endParaRPr sz="700"/>
          </a:p>
          <a:p>
            <a:pPr indent="-146050" lvl="1" marL="228600" marR="0" rtl="0" algn="l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urier New"/>
              <a:buChar char="o"/>
            </a:pPr>
            <a:r>
              <a:rPr b="0" i="0" lang="en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monthly and seasonal stock analysis to optimize reorder schedules and minimize overstock or expiry risks.</a:t>
            </a:r>
            <a:endParaRPr b="0" i="0" sz="900" u="none" cap="none" strike="noStrike">
              <a:solidFill>
                <a:srgbClr val="231F2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7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7" name="Google Shape;207;p27"/>
          <p:cNvSpPr txBox="1"/>
          <p:nvPr/>
        </p:nvSpPr>
        <p:spPr>
          <a:xfrm>
            <a:off x="2618613" y="4004465"/>
            <a:ext cx="5563240" cy="559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88900" lvl="1" marL="177800" marR="0" rtl="0" algn="l">
              <a:lnSpc>
                <a:spcPct val="137992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Generation of Revenue :</a:t>
            </a:r>
            <a:endParaRPr sz="700"/>
          </a:p>
          <a:p>
            <a:pPr indent="0" lvl="1" marL="88900" marR="0" rtl="0" algn="l">
              <a:lnSpc>
                <a:spcPct val="137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800" u="none" cap="none" strike="noStrike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95250" lvl="1" marL="177800" marR="0" rtl="0" algn="l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Focused on stocking high-demand and high-margin products to maximize daily sales and overall profitability.</a:t>
            </a:r>
            <a:endParaRPr sz="700"/>
          </a:p>
          <a:p>
            <a:pPr indent="-95250" lvl="1" marL="177800" marR="0" rtl="0" algn="l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targeted promotions and bundled offers to boost sales volume and attract recurring customers.</a:t>
            </a:r>
            <a:endParaRPr sz="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084683" y="-5132268"/>
            <a:ext cx="7920927" cy="812781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8"/>
          <p:cNvSpPr txBox="1"/>
          <p:nvPr/>
        </p:nvSpPr>
        <p:spPr>
          <a:xfrm>
            <a:off x="1984290" y="894438"/>
            <a:ext cx="5175421" cy="728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DATA COLLECTED</a:t>
            </a:r>
            <a:endParaRPr sz="700"/>
          </a:p>
        </p:txBody>
      </p:sp>
      <p:pic>
        <p:nvPicPr>
          <p:cNvPr id="214" name="Google Shape;21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9710" y="337076"/>
            <a:ext cx="7920926" cy="8127817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8"/>
          <p:cNvSpPr txBox="1"/>
          <p:nvPr/>
        </p:nvSpPr>
        <p:spPr>
          <a:xfrm>
            <a:off x="1950147" y="2751641"/>
            <a:ext cx="5449060" cy="2167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7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dataset contains detailed pharmacy records, with each column serving a key role:</a:t>
            </a:r>
            <a:endParaRPr sz="700"/>
          </a:p>
          <a:p>
            <a:pPr indent="-228600" lvl="0" marL="228600" marR="0" rtl="0" algn="l">
              <a:lnSpc>
                <a:spcPct val="10970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AutoNum type="arabicParenR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‘Doctor’ identifies the prescribing medical professional.</a:t>
            </a:r>
            <a:endParaRPr sz="700"/>
          </a:p>
          <a:p>
            <a:pPr indent="-228600" lvl="0" marL="228600" marR="0" rtl="0" algn="l">
              <a:lnSpc>
                <a:spcPct val="10970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AutoNum type="arabicParenR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‘Purchaser/Patient’ tracks the recipient.</a:t>
            </a:r>
            <a:endParaRPr sz="700"/>
          </a:p>
          <a:p>
            <a:pPr indent="-228600" lvl="0" marL="228600" marR="0" rtl="0" algn="l">
              <a:lnSpc>
                <a:spcPct val="10970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AutoNum type="arabicParenR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‘Qty.’ lists the quantity dispensed.</a:t>
            </a:r>
            <a:endParaRPr sz="700"/>
          </a:p>
          <a:p>
            <a:pPr indent="-228600" lvl="0" marL="228600" marR="0" rtl="0" algn="l">
              <a:lnSpc>
                <a:spcPct val="10970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AutoNum type="arabicParenR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‘Particulars’ specifies the exact medicine.</a:t>
            </a:r>
            <a:endParaRPr sz="700"/>
          </a:p>
          <a:p>
            <a:pPr indent="-228600" lvl="0" marL="228600" marR="0" rtl="0" algn="l">
              <a:lnSpc>
                <a:spcPct val="10970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AutoNum type="arabicParenR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‘Manufacturing Comp.’ notes the manufacturer.</a:t>
            </a:r>
            <a:endParaRPr sz="700"/>
          </a:p>
          <a:p>
            <a:pPr indent="-228600" lvl="0" marL="228600" marR="0" rtl="0" algn="l">
              <a:lnSpc>
                <a:spcPct val="10970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AutoNum type="arabicParenR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‘Batch No.’ records product traceability.</a:t>
            </a:r>
            <a:endParaRPr sz="700"/>
          </a:p>
          <a:p>
            <a:pPr indent="-228600" lvl="0" marL="228600" marR="0" rtl="0" algn="l">
              <a:lnSpc>
                <a:spcPct val="10970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AutoNum type="arabicParenR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‘Expiry Date’ ensures quality control.</a:t>
            </a:r>
            <a:endParaRPr sz="700"/>
          </a:p>
          <a:p>
            <a:pPr indent="-228600" lvl="0" marL="228600" marR="0" rtl="0" algn="l">
              <a:lnSpc>
                <a:spcPct val="10970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AutoNum type="arabicParenR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‘Amount(Rs.)’ captures transaction value.</a:t>
            </a:r>
            <a:endParaRPr sz="700"/>
          </a:p>
          <a:p>
            <a:pPr indent="-228600" lvl="0" marL="228600" marR="0" rtl="0" algn="l">
              <a:lnSpc>
                <a:spcPct val="10970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AutoNum type="arabicParenR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‘Dated’ logs the date of sale or prescription.</a:t>
            </a:r>
            <a:endParaRPr sz="700"/>
          </a:p>
          <a:p>
            <a:pPr indent="0" lvl="0" marL="0" marR="0" rtl="0" algn="l">
              <a:lnSpc>
                <a:spcPct val="1097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Together, these columns provide a comprehensive view of business operations and stock movement.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28"/>
          <p:cNvSpPr txBox="1"/>
          <p:nvPr/>
        </p:nvSpPr>
        <p:spPr>
          <a:xfrm>
            <a:off x="1984290" y="1689554"/>
            <a:ext cx="3765266" cy="446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AEB"/>
                </a:solidFill>
                <a:latin typeface="Arial"/>
                <a:ea typeface="Arial"/>
                <a:cs typeface="Arial"/>
                <a:sym typeface="Arial"/>
              </a:rPr>
              <a:t>Time Period of Data Collected : 17-weeks (January 2025 to May 2025)</a:t>
            </a:r>
            <a:endParaRPr sz="700"/>
          </a:p>
        </p:txBody>
      </p:sp>
      <p:pic>
        <p:nvPicPr>
          <p:cNvPr id="217" name="Google Shape;21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3508" y="2203029"/>
            <a:ext cx="5449061" cy="446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9"/>
          <p:cNvPicPr preferRelativeResize="0"/>
          <p:nvPr/>
        </p:nvPicPr>
        <p:blipFill rotWithShape="1">
          <a:blip r:embed="rId3">
            <a:alphaModFix/>
          </a:blip>
          <a:srcRect b="21874" l="0" r="0" t="21875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29"/>
          <p:cNvGrpSpPr/>
          <p:nvPr/>
        </p:nvGrpSpPr>
        <p:grpSpPr>
          <a:xfrm>
            <a:off x="17947" y="-628478"/>
            <a:ext cx="9143998" cy="1579215"/>
            <a:chOff x="0" y="-19050"/>
            <a:chExt cx="4816592" cy="831850"/>
          </a:xfrm>
        </p:grpSpPr>
        <p:sp>
          <p:nvSpPr>
            <p:cNvPr id="224" name="Google Shape;224;p29"/>
            <p:cNvSpPr/>
            <p:nvPr/>
          </p:nvSpPr>
          <p:spPr>
            <a:xfrm>
              <a:off x="0" y="0"/>
              <a:ext cx="4816592" cy="812800"/>
            </a:xfrm>
            <a:custGeom>
              <a:rect b="b" l="l" r="r" t="t"/>
              <a:pathLst>
                <a:path extrusionOk="0"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25" name="Google Shape;225;p29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6" name="Google Shape;22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5511" y="-2548815"/>
            <a:ext cx="3808279" cy="390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40013" y="-2199211"/>
            <a:ext cx="3354966" cy="3442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9"/>
          <p:cNvPicPr preferRelativeResize="0"/>
          <p:nvPr/>
        </p:nvPicPr>
        <p:blipFill rotWithShape="1">
          <a:blip r:embed="rId5">
            <a:alphaModFix/>
          </a:blip>
          <a:srcRect b="432" l="18090" r="16377" t="2964"/>
          <a:stretch/>
        </p:blipFill>
        <p:spPr>
          <a:xfrm>
            <a:off x="6401866" y="1086843"/>
            <a:ext cx="2587819" cy="381485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9"/>
          <p:cNvSpPr txBox="1"/>
          <p:nvPr/>
        </p:nvSpPr>
        <p:spPr>
          <a:xfrm>
            <a:off x="1740440" y="212964"/>
            <a:ext cx="5453020" cy="545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ANALYSIS PROCESS</a:t>
            </a:r>
            <a:endParaRPr sz="700"/>
          </a:p>
        </p:txBody>
      </p:sp>
      <p:sp>
        <p:nvSpPr>
          <p:cNvPr id="230" name="Google Shape;230;p29"/>
          <p:cNvSpPr txBox="1"/>
          <p:nvPr/>
        </p:nvSpPr>
        <p:spPr>
          <a:xfrm>
            <a:off x="164706" y="1021224"/>
            <a:ext cx="6066595" cy="4027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14300" lvl="1" marL="228600" marR="0" rtl="0" algn="l">
              <a:lnSpc>
                <a:spcPct val="12554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was collected from the pharmacy’s sales and inventory records, covering daily transactions, medicine details, quantities, suppliers, expiry dates, and revenue figures.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55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1" marL="228600" marR="0" rtl="0" algn="l">
              <a:lnSpc>
                <a:spcPct val="125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Pre-processing :</a:t>
            </a:r>
            <a:endParaRPr sz="700"/>
          </a:p>
          <a:p>
            <a:pPr indent="-165100" lvl="2" marL="469900" marR="0" rtl="0" algn="l">
              <a:lnSpc>
                <a:spcPct val="125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⚬"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entered manually </a:t>
            </a:r>
            <a:endParaRPr sz="700"/>
          </a:p>
          <a:p>
            <a:pPr indent="-165100" lvl="2" marL="469900" marR="0" rtl="0" algn="l">
              <a:lnSpc>
                <a:spcPct val="12554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⚬"/>
            </a:pP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of Excel’s data cleaning tools</a:t>
            </a:r>
            <a:endParaRPr sz="700"/>
          </a:p>
          <a:p>
            <a:pPr indent="-165100" lvl="2" marL="469900" marR="0" rtl="0" algn="l">
              <a:lnSpc>
                <a:spcPct val="12554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⚬"/>
            </a:pP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Formulas to organize weekly and monthly sheets for key metrics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55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1" marL="228600" marR="0" rtl="0" algn="l">
              <a:lnSpc>
                <a:spcPct val="125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Analysis :</a:t>
            </a:r>
            <a:endParaRPr sz="700"/>
          </a:p>
          <a:p>
            <a:pPr indent="-165100" lvl="2" marL="469900" marR="0" rtl="0" algn="l">
              <a:lnSpc>
                <a:spcPct val="125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⚬"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the help of Excel, different formulas could be used to get the Summary Statistics of the data</a:t>
            </a:r>
            <a:endParaRPr sz="700"/>
          </a:p>
          <a:p>
            <a:pPr indent="-165100" lvl="2" marL="469900" marR="0" rtl="0" algn="l">
              <a:lnSpc>
                <a:spcPct val="125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⚬"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descriptive statistics were calculated using Excel formulas like MAX, MIN and SUM</a:t>
            </a:r>
            <a:endParaRPr sz="700"/>
          </a:p>
          <a:p>
            <a:pPr indent="-165100" lvl="2" marL="469900" marR="0" rtl="0" algn="l">
              <a:lnSpc>
                <a:spcPct val="125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⚬"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Further to understand the data precisely and easily, pictorial representations were used</a:t>
            </a:r>
            <a:endParaRPr sz="700"/>
          </a:p>
          <a:p>
            <a:pPr indent="-88900" lvl="2" marL="469900" marR="0" rtl="0" algn="l">
              <a:lnSpc>
                <a:spcPct val="12554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1" marL="228600" marR="0" rtl="0" algn="l">
              <a:lnSpc>
                <a:spcPct val="12554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Visualizations such as bar charts, line graphs, and summary tables were generated to clarify demand patterns, identify top and low-selling medicines, and track inventory movement.</a:t>
            </a:r>
            <a:endParaRPr sz="700"/>
          </a:p>
          <a:p>
            <a:pPr indent="0" lvl="1" marL="114300" marR="0" rtl="0" algn="l">
              <a:lnSpc>
                <a:spcPct val="1255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1" marL="228600" marR="0" rtl="0" algn="l">
              <a:lnSpc>
                <a:spcPct val="125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Diagnostic Analysis :</a:t>
            </a:r>
            <a:endParaRPr sz="700"/>
          </a:p>
          <a:p>
            <a:pPr indent="-165100" lvl="2" marL="469900" marR="0" rtl="0" algn="l">
              <a:lnSpc>
                <a:spcPct val="125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⚬"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trends across the weeks were very helpful </a:t>
            </a:r>
            <a:endParaRPr sz="700"/>
          </a:p>
          <a:p>
            <a:pPr indent="-165100" lvl="2" marL="469900" marR="0" rtl="0" algn="l">
              <a:lnSpc>
                <a:spcPct val="12554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⚬"/>
            </a:pP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helped pinpoint periods of peak sales, stockouts, and expiry risks, enabling deeper understanding of operational issues and strategic opportunities for improvement</a:t>
            </a:r>
            <a:endParaRPr sz="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B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/>
        </p:nvSpPr>
        <p:spPr>
          <a:xfrm>
            <a:off x="154822" y="967644"/>
            <a:ext cx="8651386" cy="293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On the basis of sales and revenue, the best 10 products were filtered out.</a:t>
            </a:r>
            <a:endParaRPr sz="700"/>
          </a:p>
        </p:txBody>
      </p:sp>
      <p:sp>
        <p:nvSpPr>
          <p:cNvPr id="236" name="Google Shape;236;p30"/>
          <p:cNvSpPr txBox="1"/>
          <p:nvPr/>
        </p:nvSpPr>
        <p:spPr>
          <a:xfrm>
            <a:off x="789472" y="4095750"/>
            <a:ext cx="6877824" cy="777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31211"/>
                </a:solidFill>
                <a:latin typeface="Sansita"/>
                <a:ea typeface="Sansita"/>
                <a:cs typeface="Sansita"/>
                <a:sym typeface="Sansita"/>
              </a:rPr>
              <a:t>From both the charts it can be concluded that </a:t>
            </a:r>
            <a:endParaRPr sz="700"/>
          </a:p>
          <a:p>
            <a:pPr indent="0" lvl="0" marL="0" marR="0" rtl="0" algn="ctr">
              <a:lnSpc>
                <a:spcPct val="138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31211"/>
                </a:solidFill>
                <a:latin typeface="Sansita"/>
                <a:ea typeface="Sansita"/>
                <a:cs typeface="Sansita"/>
                <a:sym typeface="Sansita"/>
              </a:rPr>
              <a:t>‘Crocin 500mg Tablet’ and ‘Betadine 10g Ointment’</a:t>
            </a:r>
            <a:endParaRPr sz="700"/>
          </a:p>
          <a:p>
            <a:pPr indent="0" lvl="0" marL="0" marR="0" rtl="0" algn="ctr">
              <a:lnSpc>
                <a:spcPct val="138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31211"/>
                </a:solidFill>
                <a:latin typeface="Sansita"/>
                <a:ea typeface="Sansita"/>
                <a:cs typeface="Sansita"/>
                <a:sym typeface="Sansita"/>
              </a:rPr>
              <a:t>dominate the overall sales and revenue generation of the shop respectively.</a:t>
            </a:r>
            <a:endParaRPr sz="700"/>
          </a:p>
        </p:txBody>
      </p:sp>
      <p:grpSp>
        <p:nvGrpSpPr>
          <p:cNvPr id="237" name="Google Shape;237;p30"/>
          <p:cNvGrpSpPr/>
          <p:nvPr/>
        </p:nvGrpSpPr>
        <p:grpSpPr>
          <a:xfrm>
            <a:off x="-1240014" y="-2649909"/>
            <a:ext cx="11773803" cy="3907749"/>
            <a:chOff x="0" y="0"/>
            <a:chExt cx="31396807" cy="10420662"/>
          </a:xfrm>
        </p:grpSpPr>
        <p:grpSp>
          <p:nvGrpSpPr>
            <p:cNvPr id="238" name="Google Shape;238;p30"/>
            <p:cNvGrpSpPr/>
            <p:nvPr/>
          </p:nvGrpSpPr>
          <p:grpSpPr>
            <a:xfrm>
              <a:off x="3354562" y="5120898"/>
              <a:ext cx="24383995" cy="4211241"/>
              <a:chOff x="0" y="-19050"/>
              <a:chExt cx="4816592" cy="831850"/>
            </a:xfrm>
          </p:grpSpPr>
          <p:sp>
            <p:nvSpPr>
              <p:cNvPr id="239" name="Google Shape;239;p30"/>
              <p:cNvSpPr/>
              <p:nvPr/>
            </p:nvSpPr>
            <p:spPr>
              <a:xfrm>
                <a:off x="0" y="0"/>
                <a:ext cx="4816592" cy="812800"/>
              </a:xfrm>
              <a:custGeom>
                <a:rect b="b" l="l" r="r" t="t"/>
                <a:pathLst>
                  <a:path extrusionOk="0" h="812800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240" name="Google Shape;240;p30"/>
              <p:cNvSpPr txBox="1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5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41" name="Google Shape;241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241398" y="0"/>
              <a:ext cx="10155409" cy="104206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932276"/>
              <a:ext cx="8946576" cy="91802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30"/>
            <p:cNvSpPr txBox="1"/>
            <p:nvPr/>
          </p:nvSpPr>
          <p:spPr>
            <a:xfrm>
              <a:off x="7947876" y="7402843"/>
              <a:ext cx="14541387" cy="1416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8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RESULTS</a:t>
              </a:r>
              <a:endParaRPr sz="700"/>
            </a:p>
          </p:txBody>
        </p:sp>
      </p:grpSp>
      <p:pic>
        <p:nvPicPr>
          <p:cNvPr id="244" name="Google Shape;24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0" y="1432567"/>
            <a:ext cx="4229100" cy="2579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900" y="1432567"/>
            <a:ext cx="3962400" cy="2579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B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31"/>
          <p:cNvGrpSpPr/>
          <p:nvPr/>
        </p:nvGrpSpPr>
        <p:grpSpPr>
          <a:xfrm>
            <a:off x="-1240014" y="-2649909"/>
            <a:ext cx="11773803" cy="3907749"/>
            <a:chOff x="0" y="0"/>
            <a:chExt cx="31396807" cy="10420662"/>
          </a:xfrm>
        </p:grpSpPr>
        <p:grpSp>
          <p:nvGrpSpPr>
            <p:cNvPr id="251" name="Google Shape;251;p31"/>
            <p:cNvGrpSpPr/>
            <p:nvPr/>
          </p:nvGrpSpPr>
          <p:grpSpPr>
            <a:xfrm>
              <a:off x="3354562" y="5120898"/>
              <a:ext cx="24383995" cy="4211241"/>
              <a:chOff x="0" y="-19050"/>
              <a:chExt cx="4816592" cy="831850"/>
            </a:xfrm>
          </p:grpSpPr>
          <p:sp>
            <p:nvSpPr>
              <p:cNvPr id="252" name="Google Shape;252;p31"/>
              <p:cNvSpPr/>
              <p:nvPr/>
            </p:nvSpPr>
            <p:spPr>
              <a:xfrm>
                <a:off x="0" y="0"/>
                <a:ext cx="4816592" cy="812800"/>
              </a:xfrm>
              <a:custGeom>
                <a:rect b="b" l="l" r="r" t="t"/>
                <a:pathLst>
                  <a:path extrusionOk="0" h="812800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253" name="Google Shape;253;p31"/>
              <p:cNvSpPr txBox="1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5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54" name="Google Shape;254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241398" y="0"/>
              <a:ext cx="10155409" cy="104206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932276"/>
              <a:ext cx="8946576" cy="91802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31"/>
            <p:cNvSpPr txBox="1"/>
            <p:nvPr/>
          </p:nvSpPr>
          <p:spPr>
            <a:xfrm>
              <a:off x="7947876" y="7402843"/>
              <a:ext cx="14541387" cy="1416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8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RESULTS</a:t>
              </a:r>
              <a:endParaRPr sz="700"/>
            </a:p>
          </p:txBody>
        </p:sp>
      </p:grpSp>
      <p:sp>
        <p:nvSpPr>
          <p:cNvPr id="257" name="Google Shape;257;p31"/>
          <p:cNvSpPr txBox="1"/>
          <p:nvPr/>
        </p:nvSpPr>
        <p:spPr>
          <a:xfrm>
            <a:off x="4970686" y="4026827"/>
            <a:ext cx="3865069" cy="649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6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Monthly Revenue of all products altogether.</a:t>
            </a:r>
            <a:endParaRPr sz="700"/>
          </a:p>
          <a:p>
            <a:pPr indent="0" lvl="0" marL="0" marR="0" rtl="0" algn="ctr">
              <a:lnSpc>
                <a:spcPct val="1206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May's revenue is lower since we only have data up to the 5th.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31"/>
          <p:cNvSpPr txBox="1"/>
          <p:nvPr/>
        </p:nvSpPr>
        <p:spPr>
          <a:xfrm>
            <a:off x="95868" y="4035717"/>
            <a:ext cx="4551020" cy="64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6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Revenue of all products altogether.</a:t>
            </a:r>
            <a:endParaRPr sz="700"/>
          </a:p>
          <a:p>
            <a:pPr indent="0" lvl="0" marL="0" marR="0" rtl="0" algn="ctr">
              <a:lnSpc>
                <a:spcPct val="1206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Generally, sales tend to be consistent, but there are clear peaks and valleys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9" name="Google Shape;25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" y="1257839"/>
            <a:ext cx="4117549" cy="258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4400" y="1257839"/>
            <a:ext cx="4286250" cy="2576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B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32"/>
          <p:cNvGrpSpPr/>
          <p:nvPr/>
        </p:nvGrpSpPr>
        <p:grpSpPr>
          <a:xfrm>
            <a:off x="-1240014" y="-2649909"/>
            <a:ext cx="11773803" cy="3907749"/>
            <a:chOff x="0" y="0"/>
            <a:chExt cx="31396807" cy="10420662"/>
          </a:xfrm>
        </p:grpSpPr>
        <p:grpSp>
          <p:nvGrpSpPr>
            <p:cNvPr id="266" name="Google Shape;266;p32"/>
            <p:cNvGrpSpPr/>
            <p:nvPr/>
          </p:nvGrpSpPr>
          <p:grpSpPr>
            <a:xfrm>
              <a:off x="3354562" y="5120898"/>
              <a:ext cx="24383995" cy="4211241"/>
              <a:chOff x="0" y="-19050"/>
              <a:chExt cx="4816592" cy="831850"/>
            </a:xfrm>
          </p:grpSpPr>
          <p:sp>
            <p:nvSpPr>
              <p:cNvPr id="267" name="Google Shape;267;p32"/>
              <p:cNvSpPr/>
              <p:nvPr/>
            </p:nvSpPr>
            <p:spPr>
              <a:xfrm>
                <a:off x="0" y="0"/>
                <a:ext cx="4816592" cy="812800"/>
              </a:xfrm>
              <a:custGeom>
                <a:rect b="b" l="l" r="r" t="t"/>
                <a:pathLst>
                  <a:path extrusionOk="0" h="812800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268" name="Google Shape;268;p32"/>
              <p:cNvSpPr txBox="1"/>
              <p:nvPr/>
            </p:nvSpPr>
            <p:spPr>
              <a:xfrm>
                <a:off x="0" y="-19050"/>
                <a:ext cx="812800" cy="831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5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69" name="Google Shape;269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241398" y="0"/>
              <a:ext cx="10155409" cy="104206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932276"/>
              <a:ext cx="8946576" cy="91802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32"/>
            <p:cNvSpPr txBox="1"/>
            <p:nvPr/>
          </p:nvSpPr>
          <p:spPr>
            <a:xfrm>
              <a:off x="7947876" y="7402843"/>
              <a:ext cx="14541387" cy="1416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8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RESULTS</a:t>
              </a:r>
              <a:endParaRPr sz="700"/>
            </a:p>
          </p:txBody>
        </p:sp>
      </p:grpSp>
      <p:sp>
        <p:nvSpPr>
          <p:cNvPr id="272" name="Google Shape;272;p32"/>
          <p:cNvSpPr txBox="1"/>
          <p:nvPr/>
        </p:nvSpPr>
        <p:spPr>
          <a:xfrm>
            <a:off x="0" y="4223049"/>
            <a:ext cx="4267200" cy="36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1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highlights that just a small selection of medicines is responsible for the majority of the income.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32"/>
          <p:cNvSpPr txBox="1"/>
          <p:nvPr/>
        </p:nvSpPr>
        <p:spPr>
          <a:xfrm>
            <a:off x="4392562" y="4211822"/>
            <a:ext cx="4612266" cy="415499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revenue contributing medicines are also contributing higher in loss due to expired medicine.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4" name="Google Shape;27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324" y="1080890"/>
            <a:ext cx="3587276" cy="2849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2034" y="1080890"/>
            <a:ext cx="4187124" cy="2849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33"/>
          <p:cNvPicPr preferRelativeResize="0"/>
          <p:nvPr/>
        </p:nvPicPr>
        <p:blipFill rotWithShape="1">
          <a:blip r:embed="rId3">
            <a:alphaModFix/>
          </a:blip>
          <a:srcRect b="21874" l="0" r="0" t="21875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57863">
            <a:off x="-285653" y="3075497"/>
            <a:ext cx="10636609" cy="4564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3"/>
          <p:cNvPicPr preferRelativeResize="0"/>
          <p:nvPr/>
        </p:nvPicPr>
        <p:blipFill rotWithShape="1">
          <a:blip r:embed="rId5">
            <a:alphaModFix/>
          </a:blip>
          <a:srcRect b="0" l="0" r="0" t="46379"/>
          <a:stretch/>
        </p:blipFill>
        <p:spPr>
          <a:xfrm>
            <a:off x="6322973" y="4339824"/>
            <a:ext cx="2573143" cy="2724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33"/>
          <p:cNvGrpSpPr/>
          <p:nvPr/>
        </p:nvGrpSpPr>
        <p:grpSpPr>
          <a:xfrm>
            <a:off x="6332225" y="1677457"/>
            <a:ext cx="2563891" cy="2662366"/>
            <a:chOff x="0" y="-57150"/>
            <a:chExt cx="1279723" cy="1328875"/>
          </a:xfrm>
        </p:grpSpPr>
        <p:sp>
          <p:nvSpPr>
            <p:cNvPr id="284" name="Google Shape;284;p33"/>
            <p:cNvSpPr/>
            <p:nvPr/>
          </p:nvSpPr>
          <p:spPr>
            <a:xfrm>
              <a:off x="0" y="0"/>
              <a:ext cx="1279723" cy="1271725"/>
            </a:xfrm>
            <a:custGeom>
              <a:rect b="b" l="l" r="r" t="t"/>
              <a:pathLst>
                <a:path extrusionOk="0" h="1271725" w="1279723">
                  <a:moveTo>
                    <a:pt x="0" y="0"/>
                  </a:moveTo>
                  <a:lnTo>
                    <a:pt x="1279723" y="0"/>
                  </a:lnTo>
                  <a:lnTo>
                    <a:pt x="1279723" y="1271725"/>
                  </a:lnTo>
                  <a:lnTo>
                    <a:pt x="0" y="1271725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85" name="Google Shape;285;p33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28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6" name="Google Shape;286;p33"/>
          <p:cNvPicPr preferRelativeResize="0"/>
          <p:nvPr/>
        </p:nvPicPr>
        <p:blipFill rotWithShape="1">
          <a:blip r:embed="rId5">
            <a:alphaModFix/>
          </a:blip>
          <a:srcRect b="0" l="0" r="0" t="46379"/>
          <a:stretch/>
        </p:blipFill>
        <p:spPr>
          <a:xfrm>
            <a:off x="3327646" y="4339824"/>
            <a:ext cx="2573143" cy="2724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7" name="Google Shape;287;p33"/>
          <p:cNvGrpSpPr/>
          <p:nvPr/>
        </p:nvGrpSpPr>
        <p:grpSpPr>
          <a:xfrm>
            <a:off x="3336898" y="1677457"/>
            <a:ext cx="2563891" cy="2662366"/>
            <a:chOff x="0" y="-57150"/>
            <a:chExt cx="1279723" cy="1328875"/>
          </a:xfrm>
        </p:grpSpPr>
        <p:sp>
          <p:nvSpPr>
            <p:cNvPr id="288" name="Google Shape;288;p33"/>
            <p:cNvSpPr/>
            <p:nvPr/>
          </p:nvSpPr>
          <p:spPr>
            <a:xfrm>
              <a:off x="0" y="0"/>
              <a:ext cx="1279723" cy="1271725"/>
            </a:xfrm>
            <a:custGeom>
              <a:rect b="b" l="l" r="r" t="t"/>
              <a:pathLst>
                <a:path extrusionOk="0" h="1271725" w="1279723">
                  <a:moveTo>
                    <a:pt x="0" y="0"/>
                  </a:moveTo>
                  <a:lnTo>
                    <a:pt x="1279723" y="0"/>
                  </a:lnTo>
                  <a:lnTo>
                    <a:pt x="1279723" y="1271725"/>
                  </a:lnTo>
                  <a:lnTo>
                    <a:pt x="0" y="1271725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89" name="Google Shape;289;p33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28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0" name="Google Shape;290;p33"/>
          <p:cNvPicPr preferRelativeResize="0"/>
          <p:nvPr/>
        </p:nvPicPr>
        <p:blipFill rotWithShape="1">
          <a:blip r:embed="rId5">
            <a:alphaModFix/>
          </a:blip>
          <a:srcRect b="0" l="0" r="0" t="46379"/>
          <a:stretch/>
        </p:blipFill>
        <p:spPr>
          <a:xfrm>
            <a:off x="305380" y="4374696"/>
            <a:ext cx="2601303" cy="2754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33"/>
          <p:cNvGrpSpPr/>
          <p:nvPr/>
        </p:nvGrpSpPr>
        <p:grpSpPr>
          <a:xfrm>
            <a:off x="314733" y="1683193"/>
            <a:ext cx="2591950" cy="2691503"/>
            <a:chOff x="0" y="-57150"/>
            <a:chExt cx="1279723" cy="1328875"/>
          </a:xfrm>
        </p:grpSpPr>
        <p:sp>
          <p:nvSpPr>
            <p:cNvPr id="292" name="Google Shape;292;p33"/>
            <p:cNvSpPr/>
            <p:nvPr/>
          </p:nvSpPr>
          <p:spPr>
            <a:xfrm>
              <a:off x="0" y="0"/>
              <a:ext cx="1279723" cy="1271725"/>
            </a:xfrm>
            <a:custGeom>
              <a:rect b="b" l="l" r="r" t="t"/>
              <a:pathLst>
                <a:path extrusionOk="0" h="1271725" w="1279723">
                  <a:moveTo>
                    <a:pt x="0" y="0"/>
                  </a:moveTo>
                  <a:lnTo>
                    <a:pt x="1279723" y="0"/>
                  </a:lnTo>
                  <a:lnTo>
                    <a:pt x="1279723" y="1271725"/>
                  </a:lnTo>
                  <a:lnTo>
                    <a:pt x="0" y="1271725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93" name="Google Shape;293;p33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28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4" name="Google Shape;294;p33"/>
          <p:cNvGrpSpPr/>
          <p:nvPr/>
        </p:nvGrpSpPr>
        <p:grpSpPr>
          <a:xfrm>
            <a:off x="967939" y="1153296"/>
            <a:ext cx="1285536" cy="1291299"/>
            <a:chOff x="1813" y="0"/>
            <a:chExt cx="809173" cy="812800"/>
          </a:xfrm>
        </p:grpSpPr>
        <p:sp>
          <p:nvSpPr>
            <p:cNvPr id="295" name="Google Shape;295;p33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28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7" name="Google Shape;297;p33"/>
          <p:cNvGrpSpPr/>
          <p:nvPr/>
        </p:nvGrpSpPr>
        <p:grpSpPr>
          <a:xfrm>
            <a:off x="3978407" y="1153296"/>
            <a:ext cx="1271620" cy="1277320"/>
            <a:chOff x="1813" y="0"/>
            <a:chExt cx="809173" cy="812800"/>
          </a:xfrm>
        </p:grpSpPr>
        <p:sp>
          <p:nvSpPr>
            <p:cNvPr id="298" name="Google Shape;298;p33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28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0" name="Google Shape;300;p33"/>
          <p:cNvGrpSpPr/>
          <p:nvPr/>
        </p:nvGrpSpPr>
        <p:grpSpPr>
          <a:xfrm>
            <a:off x="6979201" y="1153296"/>
            <a:ext cx="1271620" cy="1277320"/>
            <a:chOff x="1813" y="0"/>
            <a:chExt cx="809173" cy="812800"/>
          </a:xfrm>
        </p:grpSpPr>
        <p:sp>
          <p:nvSpPr>
            <p:cNvPr id="301" name="Google Shape;301;p33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28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3" name="Google Shape;303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16137" y="1253235"/>
            <a:ext cx="579789" cy="632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4341" y="1253235"/>
            <a:ext cx="599502" cy="71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10488" y="1306945"/>
            <a:ext cx="612507" cy="61250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3"/>
          <p:cNvSpPr txBox="1"/>
          <p:nvPr/>
        </p:nvSpPr>
        <p:spPr>
          <a:xfrm>
            <a:off x="1167515" y="132391"/>
            <a:ext cx="6808970" cy="797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rgbClr val="231F20"/>
                </a:solidFill>
                <a:latin typeface="Oswald"/>
                <a:ea typeface="Oswald"/>
                <a:cs typeface="Oswald"/>
                <a:sym typeface="Oswald"/>
              </a:rPr>
              <a:t>RECOMMENDATIONS</a:t>
            </a:r>
            <a:endParaRPr sz="700"/>
          </a:p>
        </p:txBody>
      </p:sp>
      <p:sp>
        <p:nvSpPr>
          <p:cNvPr id="307" name="Google Shape;307;p33"/>
          <p:cNvSpPr txBox="1"/>
          <p:nvPr/>
        </p:nvSpPr>
        <p:spPr>
          <a:xfrm>
            <a:off x="469172" y="2190741"/>
            <a:ext cx="2283072" cy="177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Focus on the top-10 products of the shop as they generate more than 90% of the revenue.</a:t>
            </a:r>
            <a:endParaRPr sz="700"/>
          </a:p>
          <a:p>
            <a:pPr indent="0" lvl="0" marL="0" marR="0" rtl="0" algn="ctr">
              <a:lnSpc>
                <a:spcPct val="138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Make sure that the inventory of these products is always well-stocked to avoid running out of stock</a:t>
            </a:r>
            <a:endParaRPr sz="700"/>
          </a:p>
          <a:p>
            <a:pPr indent="0" lvl="0" marL="0" marR="0" rtl="0" algn="ctr">
              <a:lnSpc>
                <a:spcPct val="138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during peak sales periods.</a:t>
            </a:r>
            <a:endParaRPr sz="700"/>
          </a:p>
        </p:txBody>
      </p:sp>
      <p:sp>
        <p:nvSpPr>
          <p:cNvPr id="308" name="Google Shape;308;p33"/>
          <p:cNvSpPr txBox="1"/>
          <p:nvPr/>
        </p:nvSpPr>
        <p:spPr>
          <a:xfrm>
            <a:off x="3454771" y="2185979"/>
            <a:ext cx="2318641" cy="1583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7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Monitor and adjust inventory levels before expected seasonal demand shifts (like monsoon or winter illnesses).</a:t>
            </a:r>
            <a:b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Use sales data trends to proactively avoid stockouts and reduce deadstock, improving business resilience.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9" name="Google Shape;309;p33"/>
          <p:cNvSpPr txBox="1"/>
          <p:nvPr/>
        </p:nvSpPr>
        <p:spPr>
          <a:xfrm>
            <a:off x="673383" y="4470744"/>
            <a:ext cx="187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STRATEGY N°</a:t>
            </a:r>
            <a:r>
              <a:rPr lang="en" sz="1900">
                <a:latin typeface="Oswald"/>
                <a:ea typeface="Oswald"/>
                <a:cs typeface="Oswald"/>
                <a:sym typeface="Oswald"/>
              </a:rPr>
              <a:t>1</a:t>
            </a:r>
            <a:endParaRPr sz="700"/>
          </a:p>
        </p:txBody>
      </p:sp>
      <p:sp>
        <p:nvSpPr>
          <p:cNvPr id="310" name="Google Shape;310;p33"/>
          <p:cNvSpPr txBox="1"/>
          <p:nvPr/>
        </p:nvSpPr>
        <p:spPr>
          <a:xfrm>
            <a:off x="3644821" y="4479099"/>
            <a:ext cx="185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STRATEGY N°</a:t>
            </a:r>
            <a:r>
              <a:rPr lang="en" sz="1900">
                <a:latin typeface="Oswald"/>
                <a:ea typeface="Oswald"/>
                <a:cs typeface="Oswald"/>
                <a:sym typeface="Oswald"/>
              </a:rPr>
              <a:t>2</a:t>
            </a:r>
            <a:endParaRPr sz="700"/>
          </a:p>
        </p:txBody>
      </p:sp>
      <p:sp>
        <p:nvSpPr>
          <p:cNvPr id="311" name="Google Shape;311;p33"/>
          <p:cNvSpPr txBox="1"/>
          <p:nvPr/>
        </p:nvSpPr>
        <p:spPr>
          <a:xfrm>
            <a:off x="6687834" y="4470744"/>
            <a:ext cx="185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STRATEGY N°</a:t>
            </a:r>
            <a:r>
              <a:rPr lang="en" sz="1900">
                <a:latin typeface="Oswald"/>
                <a:ea typeface="Oswald"/>
                <a:cs typeface="Oswald"/>
                <a:sym typeface="Oswald"/>
              </a:rPr>
              <a:t>3</a:t>
            </a:r>
            <a:endParaRPr sz="700"/>
          </a:p>
        </p:txBody>
      </p:sp>
      <p:sp>
        <p:nvSpPr>
          <p:cNvPr id="312" name="Google Shape;312;p33"/>
          <p:cNvSpPr txBox="1"/>
          <p:nvPr/>
        </p:nvSpPr>
        <p:spPr>
          <a:xfrm>
            <a:off x="6505423" y="2067740"/>
            <a:ext cx="2208243" cy="198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7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Launch local health awareness drives and targeted promotions during slow months to attract new customers.</a:t>
            </a:r>
            <a:b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Bundle popular products with low-cost health items or offer discounts to increase basket size and build loyalty in the rural community.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34"/>
          <p:cNvPicPr preferRelativeResize="0"/>
          <p:nvPr/>
        </p:nvPicPr>
        <p:blipFill rotWithShape="1">
          <a:blip r:embed="rId3">
            <a:alphaModFix/>
          </a:blip>
          <a:srcRect b="21874" l="0" r="0" t="21875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4"/>
          <p:cNvPicPr preferRelativeResize="0"/>
          <p:nvPr/>
        </p:nvPicPr>
        <p:blipFill rotWithShape="1">
          <a:blip r:embed="rId4">
            <a:alphaModFix/>
          </a:blip>
          <a:srcRect b="39385" l="61609" r="0" t="19593"/>
          <a:stretch/>
        </p:blipFill>
        <p:spPr>
          <a:xfrm rot="-10580377">
            <a:off x="4633209" y="-36719"/>
            <a:ext cx="4613893" cy="5058629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4"/>
          <p:cNvSpPr txBox="1"/>
          <p:nvPr/>
        </p:nvSpPr>
        <p:spPr>
          <a:xfrm>
            <a:off x="595534" y="561060"/>
            <a:ext cx="5039121" cy="3318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231F20"/>
                </a:solidFill>
                <a:latin typeface="Oswald"/>
                <a:ea typeface="Oswald"/>
                <a:cs typeface="Oswald"/>
                <a:sym typeface="Oswald"/>
              </a:rPr>
              <a:t>THANK YOU</a:t>
            </a:r>
            <a:endParaRPr sz="700"/>
          </a:p>
        </p:txBody>
      </p:sp>
      <p:pic>
        <p:nvPicPr>
          <p:cNvPr id="320" name="Google Shape;320;p34"/>
          <p:cNvPicPr preferRelativeResize="0"/>
          <p:nvPr/>
        </p:nvPicPr>
        <p:blipFill rotWithShape="1">
          <a:blip r:embed="rId5">
            <a:alphaModFix/>
          </a:blip>
          <a:srcRect b="21140" l="0" r="35803" t="0"/>
          <a:stretch/>
        </p:blipFill>
        <p:spPr>
          <a:xfrm flipH="1">
            <a:off x="-1" y="3738030"/>
            <a:ext cx="3813720" cy="1405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